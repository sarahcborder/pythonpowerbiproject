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regular.fntdata"/><Relationship Id="rId21" Type="http://schemas.openxmlformats.org/officeDocument/2006/relationships/slide" Target="slides/slide16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To understand the scale of the problem, we first have to quantify our high-level baseline metrics. Churn isn't just a customer service metric; it directly impacts our top-line revenue and increases our marketing acquisition costs.</a:t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c61d540c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c61d540cf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c61d540c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ec61d540cf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What I used…SQL,Python,PowerBI,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Now that we know the scale of the problem and the tools used to solve it, let’s jump into the diagnostic pillars to answer our very first major business question: When exactly are these customers leaving us?</a:t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c61d540c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c61d540c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switch to power bi to show the dashboard live action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</a:t>
            </a:r>
            <a:r>
              <a:rPr lang="en-US">
                <a:solidFill>
                  <a:schemeClr val="dk1"/>
                </a:solidFill>
              </a:rPr>
              <a:t>Summarize findings.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Discuss limitations.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Identify future opportunities for analysis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 and questions</a:t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hyperlink" Target="https://www.kaggle.com/datasets/alfathterry/telco-customer-churn-11-1-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50369" y="2382291"/>
            <a:ext cx="1009126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A9D8F"/>
                </a:solidFill>
                <a:latin typeface="Poppins"/>
                <a:ea typeface="Poppins"/>
                <a:cs typeface="Poppins"/>
                <a:sym typeface="Poppins"/>
              </a:rPr>
              <a:t>Mitigating Customer Churn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290637" y="3601491"/>
            <a:ext cx="96108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Data-Driven Retention Strategies for Modern Telecom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Prepared by: Sarah Border</a:t>
            </a:r>
            <a:endParaRPr b="1" i="0" sz="1800" u="none" cap="none" strike="noStrik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Instructor: Raygene Patterson</a:t>
            </a:r>
            <a:endParaRPr b="1" sz="18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Institution: Pivot Tech School</a:t>
            </a:r>
            <a:endParaRPr b="1" sz="18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724150"/>
            <a:ext cx="1143000" cy="5715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025616" y="3067050"/>
            <a:ext cx="6140767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The Business Case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171825" y="3971925"/>
            <a:ext cx="5848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Quantifying the 26.54% revenue leakage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114400" y="4352425"/>
            <a:ext cx="79632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At what point in the customer lifecycle is churn most heavily concentrated?</a:t>
            </a:r>
            <a:endParaRPr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Which specific products or service types have the highest vulnerability to customer turnover?</a:t>
            </a:r>
            <a:endParaRPr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What is the correlation between customer satisfaction scores and actual churn behavior?</a:t>
            </a:r>
            <a:endParaRPr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How do payment types and billing methods impact customer retention?</a:t>
            </a:r>
            <a:endParaRPr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762000" y="1501863"/>
            <a:ext cx="496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Dataset:</a:t>
            </a:r>
            <a:r>
              <a:rPr lang="en-US" sz="2100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 Telco customer churn (11.1.3+)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201050" y="1874662"/>
            <a:ext cx="552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2100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Kaggle (Author - Al Fath Terry)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27600" y="3047537"/>
            <a:ext cx="5524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Limitations: </a:t>
            </a:r>
            <a:r>
              <a:rPr lang="en-US" sz="2100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The data set had multiple years of data available, but the exact years were not included.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2419225" y="2247437"/>
            <a:ext cx="552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Number of Records: </a:t>
            </a:r>
            <a:r>
              <a:rPr lang="en-US" sz="2100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7,043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3565875" y="2647487"/>
            <a:ext cx="552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Time Period: </a:t>
            </a:r>
            <a:r>
              <a:rPr lang="en-US" sz="2100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Unspecified date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Data Preparation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571500" y="571500"/>
            <a:ext cx="76200" cy="619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3613200" y="1929237"/>
            <a:ext cx="4965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Missing Values: </a:t>
            </a:r>
            <a:r>
              <a:rPr lang="en-US" sz="2100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I found that the people who did not have internet services had no value, so I left that off the chart in the internet services chart it did not impact the question at hand.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 rot="-747">
            <a:off x="3333750" y="4395787"/>
            <a:ext cx="552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Calculated Fields: </a:t>
            </a:r>
            <a:r>
              <a:rPr lang="en-US" sz="2100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Total Revenue, Churn Rate, and Churned Customers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Executive Summary</a:t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571500" y="571500"/>
            <a:ext cx="76200" cy="619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2286000" y="4538662"/>
            <a:ext cx="7620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current churn rate represents a significant operational risk, with nearly one-quarter of the customer base opting out. Identifying 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"When, What, Why, and How"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 critical for survival.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571500" y="2405062"/>
            <a:ext cx="55245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E63946"/>
                </a:solidFill>
                <a:latin typeface="Poppins"/>
                <a:ea typeface="Poppins"/>
                <a:cs typeface="Poppins"/>
                <a:sym typeface="Poppins"/>
              </a:rPr>
              <a:t>26.54%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571500" y="3833812"/>
            <a:ext cx="552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Churn Rate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6096000" y="2405062"/>
            <a:ext cx="55245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E63946"/>
                </a:solidFill>
                <a:latin typeface="Poppins"/>
                <a:ea typeface="Poppins"/>
                <a:cs typeface="Poppins"/>
                <a:sym typeface="Poppins"/>
              </a:rPr>
              <a:t>1,869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6096000" y="3833812"/>
            <a:ext cx="552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64653"/>
                </a:solidFill>
                <a:latin typeface="Lato"/>
                <a:ea typeface="Lato"/>
                <a:cs typeface="Lato"/>
                <a:sym typeface="Lato"/>
              </a:rPr>
              <a:t>Total Lost Customers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End-to-End Analysis Workflow</a:t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571500" y="4214812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1838325" y="33766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A9D8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502443" y="3795712"/>
            <a:ext cx="29003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A9D8F"/>
                </a:solidFill>
                <a:latin typeface="Poppins"/>
                <a:ea typeface="Poppins"/>
                <a:cs typeface="Poppins"/>
                <a:sym typeface="Poppins"/>
              </a:rPr>
              <a:t>SQL Extraction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571500" y="4300537"/>
            <a:ext cx="2762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Aggregating churn thresholds from raw database tables.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4600575" y="33766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A9D8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3264693" y="3795712"/>
            <a:ext cx="29003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A9D8F"/>
                </a:solidFill>
                <a:latin typeface="Poppins"/>
                <a:ea typeface="Poppins"/>
                <a:cs typeface="Poppins"/>
                <a:sym typeface="Poppins"/>
              </a:rPr>
              <a:t>Python Analysis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3333750" y="4300537"/>
            <a:ext cx="2762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Statistical validation using Seaborn and Pandas.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7362825" y="33766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A9D8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6026943" y="3795712"/>
            <a:ext cx="29003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A9D8F"/>
                </a:solidFill>
                <a:latin typeface="Poppins"/>
                <a:ea typeface="Poppins"/>
                <a:cs typeface="Poppins"/>
                <a:sym typeface="Poppins"/>
              </a:rPr>
              <a:t>Power BI Visuals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6096000" y="4300537"/>
            <a:ext cx="2762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Dynamic dashboards for executive drill-down.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10125075" y="33766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A9D8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8789193" y="3795712"/>
            <a:ext cx="29003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A9D8F"/>
                </a:solidFill>
                <a:latin typeface="Poppins"/>
                <a:ea typeface="Poppins"/>
                <a:cs typeface="Poppins"/>
                <a:sym typeface="Poppins"/>
              </a:rPr>
              <a:t>Strategic Action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858250" y="4300537"/>
            <a:ext cx="2762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Deployment of targeted retention campaigns.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9" title="SBDashCap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150" y="152400"/>
            <a:ext cx="11645705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/>
          <p:nvPr/>
        </p:nvSpPr>
        <p:spPr>
          <a:xfrm>
            <a:off x="5524500" y="2724150"/>
            <a:ext cx="1143000" cy="5715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2630566" y="3067050"/>
            <a:ext cx="6930866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The "When" &amp; "What"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2795587" y="3971925"/>
            <a:ext cx="6600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Analyzing Tenure and Product Vulnerability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762000" y="481012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The First-Year Loyalty Cliff (When?)</a:t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571500" y="481012"/>
            <a:ext cx="76200" cy="619125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571500" y="5942412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validation confirms that customers are most vulnerable during their first 12 months. Surmounting the "First-Year Cliff" increases lifetime value by 3.5x.</a:t>
            </a:r>
            <a:endParaRPr/>
          </a:p>
        </p:txBody>
      </p:sp>
      <p:pic>
        <p:nvPicPr>
          <p:cNvPr id="170" name="Google Shape;170;p21" title="SBCapTenu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4675" y="980050"/>
            <a:ext cx="8516075" cy="489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90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40970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762000" y="409575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Product Vulnerability Analysis (What?)</a:t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571500" y="409575"/>
            <a:ext cx="76200" cy="619125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571500" y="5695950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Fiber Optic customers exhibit 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45% churn rate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indicating significant issues with either installation reliability, pricing expectations, or service technicalities compared to DSL and cable.</a:t>
            </a:r>
            <a:endParaRPr/>
          </a:p>
        </p:txBody>
      </p:sp>
      <p:pic>
        <p:nvPicPr>
          <p:cNvPr id="180" name="Google Shape;180;p22" title="SBCapInternetTyp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9620" y="1028700"/>
            <a:ext cx="7359504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Sentiment Red Zones (</a:t>
            </a:r>
            <a:r>
              <a:rPr b="1" lang="en-US" sz="3300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Why?)</a:t>
            </a:r>
            <a:endParaRPr/>
          </a:p>
        </p:txBody>
      </p:sp>
      <p:sp>
        <p:nvSpPr>
          <p:cNvPr id="187" name="Google Shape;187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3" title="SBCapSatisfactionCha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425" y="1331450"/>
            <a:ext cx="10744575" cy="375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/>
        </p:nvSpPr>
        <p:spPr>
          <a:xfrm>
            <a:off x="1740563" y="5510600"/>
            <a:ext cx="9444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Any customer recording a Satisfaction Score of 1 or 2 represents an immediate, high-probability churn event.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4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The Billing Leak (How?)</a:t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571500" y="1637462"/>
            <a:ext cx="55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A9D8F"/>
                </a:solidFill>
                <a:latin typeface="Poppins"/>
                <a:ea typeface="Poppins"/>
                <a:cs typeface="Poppins"/>
                <a:sym typeface="Poppins"/>
              </a:rPr>
              <a:t>Manual Bank Withdrawal Risk</a:t>
            </a:r>
            <a:endParaRPr/>
          </a:p>
        </p:txBody>
      </p:sp>
      <p:sp>
        <p:nvSpPr>
          <p:cNvPr id="198" name="Google Shape;198;p24"/>
          <p:cNvSpPr txBox="1"/>
          <p:nvPr/>
        </p:nvSpPr>
        <p:spPr>
          <a:xfrm>
            <a:off x="571488" y="2067325"/>
            <a:ext cx="1053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analysis identifies manual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Bank Withdrawal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as a primary operational churn trigger. Unlike automated billing, manual touchpoints provide monthly "re-evaluation" opportunities that lead to attrition.</a:t>
            </a:r>
            <a:endParaRPr/>
          </a:p>
        </p:txBody>
      </p:sp>
      <p:pic>
        <p:nvPicPr>
          <p:cNvPr id="199" name="Google Shape;199;p24" title="SBCapCustPayCha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488" y="3104850"/>
            <a:ext cx="8810625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Strategic Action Items</a:t>
            </a:r>
            <a:endParaRPr/>
          </a:p>
        </p:txBody>
      </p:sp>
      <p:sp>
        <p:nvSpPr>
          <p:cNvPr id="206" name="Google Shape;206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1047750" y="2843212"/>
            <a:ext cx="10572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Target First-Year Retention: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Deploy high-touch onboarding for the first 12 months to bridge the loyalty gap.</a:t>
            </a:r>
            <a:endParaRPr/>
          </a:p>
        </p:txBody>
      </p:sp>
      <p:sp>
        <p:nvSpPr>
          <p:cNvPr id="208" name="Google Shape;208;p25"/>
          <p:cNvSpPr txBox="1"/>
          <p:nvPr/>
        </p:nvSpPr>
        <p:spPr>
          <a:xfrm>
            <a:off x="1047750" y="3386137"/>
            <a:ext cx="10572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Audit Fiber Optic Service: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Investigate technical outages and pricing satisfaction specifically for Fiber Optic cohorts.</a:t>
            </a:r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1047750" y="3929062"/>
            <a:ext cx="10572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Incentivize Auto-Pay: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Move customers away from Bank Withdrawal toward Credit Card/Auto-pay with small monthly discounts.</a:t>
            </a:r>
            <a:endParaRPr/>
          </a:p>
        </p:txBody>
      </p:sp>
      <p:sp>
        <p:nvSpPr>
          <p:cNvPr id="210" name="Google Shape;210;p25"/>
          <p:cNvSpPr txBox="1"/>
          <p:nvPr/>
        </p:nvSpPr>
        <p:spPr>
          <a:xfrm>
            <a:off x="1047675" y="4609262"/>
            <a:ext cx="1057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Sentiment Monitoring: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Implement real-time alerts for any satisfaction score dropping below 3.</a:t>
            </a:r>
            <a:endParaRPr/>
          </a:p>
        </p:txBody>
      </p:sp>
      <p:pic>
        <p:nvPicPr>
          <p:cNvPr descr="image.png" id="211" name="Google Shape;21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813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242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67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16061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6"/>
          <p:cNvSpPr txBox="1"/>
          <p:nvPr/>
        </p:nvSpPr>
        <p:spPr>
          <a:xfrm>
            <a:off x="762000" y="1714500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Operational Excellence</a:t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571500" y="1714500"/>
            <a:ext cx="76200" cy="123825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571500" y="3333750"/>
            <a:ext cx="4953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shifting from a reactive "churn-fix" mindset to a proactive, data-driven lifecycle management strategy, 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Telecom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can reclaim up to 40% of the lost revenue.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571500" y="43910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path forward requires a unified approach across product, finance, and customer service.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90962"/>
            <a:ext cx="11049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7"/>
          <p:cNvSpPr txBox="1"/>
          <p:nvPr/>
        </p:nvSpPr>
        <p:spPr>
          <a:xfrm>
            <a:off x="295275" y="177641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32" name="Google Shape;232;p27"/>
          <p:cNvSpPr txBox="1"/>
          <p:nvPr/>
        </p:nvSpPr>
        <p:spPr>
          <a:xfrm>
            <a:off x="571500" y="31099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Thank you for your time.</a:t>
            </a:r>
            <a:endParaRPr/>
          </a:p>
        </p:txBody>
      </p:sp>
      <p:sp>
        <p:nvSpPr>
          <p:cNvPr id="233" name="Google Shape;233;p27"/>
          <p:cNvSpPr txBox="1"/>
          <p:nvPr/>
        </p:nvSpPr>
        <p:spPr>
          <a:xfrm>
            <a:off x="571500" y="4186237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Sarah Border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| Data Analyst Student</a:t>
            </a:r>
            <a:endParaRPr/>
          </a:p>
        </p:txBody>
      </p:sp>
      <p:sp>
        <p:nvSpPr>
          <p:cNvPr id="234" name="Google Shape;234;p27"/>
          <p:cNvSpPr txBox="1"/>
          <p:nvPr/>
        </p:nvSpPr>
        <p:spPr>
          <a:xfrm>
            <a:off x="571500" y="4633912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linkedin.com/in/sarah-border-150a412a1</a:t>
            </a:r>
            <a:endParaRPr/>
          </a:p>
        </p:txBody>
      </p:sp>
      <p:pic>
        <p:nvPicPr>
          <p:cNvPr descr="image.png" id="235" name="Google Shape;23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8123" y="4654145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8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Informational Res</a:t>
            </a:r>
            <a:r>
              <a:rPr b="1" i="0" lang="en-US" sz="3300" u="none" cap="none" strike="noStrike">
                <a:solidFill>
                  <a:srgbClr val="264653"/>
                </a:solidFill>
                <a:latin typeface="Poppins"/>
                <a:ea typeface="Poppins"/>
                <a:cs typeface="Poppins"/>
                <a:sym typeface="Poppins"/>
              </a:rPr>
              <a:t>ources</a:t>
            </a:r>
            <a:endParaRPr/>
          </a:p>
        </p:txBody>
      </p:sp>
      <p:sp>
        <p:nvSpPr>
          <p:cNvPr id="242" name="Google Shape;242;p2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571500" y="44157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8"/>
          <p:cNvSpPr/>
          <p:nvPr/>
        </p:nvSpPr>
        <p:spPr>
          <a:xfrm>
            <a:off x="571500" y="44157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737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8"/>
          <p:cNvSpPr txBox="1"/>
          <p:nvPr/>
        </p:nvSpPr>
        <p:spPr>
          <a:xfrm>
            <a:off x="1666875" y="4568130"/>
            <a:ext cx="99537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https://image.slidesdocs.com/responsive-images/background/conceptual-design-featuring-a-3d-finance-consultant-and-data-analyst-with-a-blue-render-powerpoint-background_e2813128f9__960_540.jpg</a:t>
            </a:r>
            <a:endParaRPr sz="1100"/>
          </a:p>
        </p:txBody>
      </p:sp>
      <p:sp>
        <p:nvSpPr>
          <p:cNvPr id="247" name="Google Shape;247;p28"/>
          <p:cNvSpPr txBox="1"/>
          <p:nvPr/>
        </p:nvSpPr>
        <p:spPr>
          <a:xfrm>
            <a:off x="1666875" y="5011935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slidesdocs.com</a:t>
            </a:r>
            <a:endParaRPr sz="1200"/>
          </a:p>
        </p:txBody>
      </p:sp>
      <p:sp>
        <p:nvSpPr>
          <p:cNvPr id="248" name="Google Shape;248;p28"/>
          <p:cNvSpPr txBox="1"/>
          <p:nvPr/>
        </p:nvSpPr>
        <p:spPr>
          <a:xfrm>
            <a:off x="571500" y="3872650"/>
            <a:ext cx="9395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Lato"/>
                <a:ea typeface="Lato"/>
                <a:cs typeface="Lato"/>
                <a:sym typeface="Lato"/>
              </a:rPr>
              <a:t>Al Fath Terry. “Telco Customer Churn (11.1.3+).” 2024, Accessed 2026. </a:t>
            </a:r>
            <a:r>
              <a:rPr lang="en-US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https://www.kaggle.com/datasets/alfathterry/telco-customer-churn-11-1-3</a:t>
            </a:r>
            <a:r>
              <a:rPr lang="en-US" sz="1300"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